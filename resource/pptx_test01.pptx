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90" r:id="rId4"/>
    <p:sldId id="263" r:id="rId5"/>
    <p:sldId id="289" r:id="rId6"/>
    <p:sldId id="26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ng" initials="p" lastIdx="1" clrIdx="0"/>
  <p:cmAuthor id="2" name="13609" initials="1" lastIdx="24" clrIdx="1"/>
  <p:cmAuthor id="3" name="胜 钱" initials="胜" lastIdx="23" clrIdx="2"/>
  <p:cmAuthor id="4" name="Administrator" initials="A" lastIdx="1" clrIdx="3"/>
  <p:cmAuthor id="5" name="章 泽一" initials="章" lastIdx="4" clrIdx="4"/>
  <p:cmAuthor id="6" name="gan123" initials="g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5:</a:t>
            </a:r>
            <a:r>
              <a:rPr lang="zh-CN" altLang="en-US" dirty="0"/>
              <a:t>人工神经网络 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50101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实验目标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使用人工神经</a:t>
            </a:r>
            <a:r>
              <a:rPr lang="zh-CN" altLang="en-US" dirty="0"/>
              <a:t>网络方法识别</a:t>
            </a:r>
            <a:r>
              <a:rPr lang="en-US" altLang="zh-CN" dirty="0"/>
              <a:t> 0–9 </a:t>
            </a:r>
            <a:r>
              <a:rPr lang="zh-CN" altLang="en-US" dirty="0"/>
              <a:t>手写数字。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掌握图像数据的基本处理流程。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完成模型训练、测试与性能评估。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highlight>
                  <a:srgbClr val="FFFF00"/>
                </a:highlight>
              </a:rPr>
              <a:t>完成分析任务并随</a:t>
            </a:r>
            <a:r>
              <a:rPr lang="zh-CN" altLang="en-US" dirty="0">
                <a:highlight>
                  <a:srgbClr val="FFFF00"/>
                </a:highlight>
              </a:rPr>
              <a:t>堂提交报告（电子版）</a:t>
            </a:r>
            <a:endParaRPr lang="zh-CN" altLang="en-US" dirty="0">
              <a:highlight>
                <a:srgbClr val="FFFF00"/>
              </a:highlight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5:</a:t>
            </a:r>
            <a:r>
              <a:rPr lang="zh-CN" altLang="en-US" dirty="0"/>
              <a:t>人工神经网络 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50101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</a:t>
            </a:r>
            <a:r>
              <a:rPr lang="zh-CN" altLang="en-US" dirty="0"/>
              <a:t>介绍</a:t>
            </a:r>
            <a:endParaRPr lang="zh-CN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mnist </a:t>
            </a:r>
            <a:r>
              <a:rPr lang="zh-CN" altLang="en-US" dirty="0">
                <a:sym typeface="+mn-ea"/>
              </a:rPr>
              <a:t>数据集包含</a:t>
            </a:r>
            <a:r>
              <a:rPr lang="en-US" altLang="zh-CN" dirty="0">
                <a:sym typeface="+mn-ea"/>
              </a:rPr>
              <a:t> 8</a:t>
            </a:r>
            <a:r>
              <a:rPr lang="en-US" altLang="en-US" dirty="0">
                <a:sym typeface="+mn-ea"/>
              </a:rPr>
              <a:t>×</a:t>
            </a:r>
            <a:r>
              <a:rPr lang="en-US" altLang="zh-CN" dirty="0">
                <a:sym typeface="+mn-ea"/>
              </a:rPr>
              <a:t>8 </a:t>
            </a:r>
            <a:r>
              <a:rPr lang="zh-CN" altLang="en-US" dirty="0">
                <a:sym typeface="+mn-ea"/>
              </a:rPr>
              <a:t>灰度手写数字图像，标签为</a:t>
            </a:r>
            <a:r>
              <a:rPr lang="en-US" altLang="zh-CN" dirty="0">
                <a:sym typeface="+mn-ea"/>
              </a:rPr>
              <a:t> 0–9 </a:t>
            </a:r>
            <a:r>
              <a:rPr lang="zh-CN" altLang="en-US" dirty="0">
                <a:sym typeface="+mn-ea"/>
              </a:rPr>
              <a:t>十类</a:t>
            </a:r>
            <a:endParaRPr lang="zh-CN" alt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zh-CN" altLang="en-US" dirty="0">
              <a:sym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>
                <a:sym typeface="+mn-ea"/>
              </a:rPr>
              <a:t>构建一个简单的前馈神经网络（</a:t>
            </a:r>
            <a:r>
              <a:rPr lang="en-US" altLang="zh-CN" dirty="0">
                <a:sym typeface="+mn-ea"/>
              </a:rPr>
              <a:t> MLP</a:t>
            </a:r>
            <a:r>
              <a:rPr lang="zh-CN" altLang="en-US" dirty="0">
                <a:sym typeface="+mn-ea"/>
              </a:rPr>
              <a:t>）。网络结构如下：输入层：</a:t>
            </a:r>
            <a:r>
              <a:rPr lang="en-US" altLang="zh-CN" dirty="0">
                <a:sym typeface="+mn-ea"/>
              </a:rPr>
              <a:t>784 </a:t>
            </a:r>
            <a:r>
              <a:rPr lang="zh-CN" altLang="en-US" dirty="0">
                <a:sym typeface="+mn-ea"/>
              </a:rPr>
              <a:t>个神经元（对应</a:t>
            </a:r>
            <a:r>
              <a:rPr lang="en-US" altLang="zh-CN" dirty="0">
                <a:sym typeface="+mn-ea"/>
              </a:rPr>
              <a:t> 28</a:t>
            </a:r>
            <a:r>
              <a:rPr lang="en-US" altLang="en-US" dirty="0">
                <a:sym typeface="+mn-ea"/>
              </a:rPr>
              <a:t>×</a:t>
            </a:r>
            <a:r>
              <a:rPr lang="en-US" altLang="zh-CN" dirty="0">
                <a:sym typeface="+mn-ea"/>
              </a:rPr>
              <a:t>28 </a:t>
            </a:r>
            <a:r>
              <a:rPr lang="zh-CN" altLang="en-US" dirty="0">
                <a:sym typeface="+mn-ea"/>
              </a:rPr>
              <a:t>像素的图像展平）。隐藏层：</a:t>
            </a:r>
            <a:r>
              <a:rPr lang="en-US" altLang="zh-CN" dirty="0">
                <a:sym typeface="+mn-ea"/>
              </a:rPr>
              <a:t>64 </a:t>
            </a:r>
            <a:r>
              <a:rPr lang="zh-CN" altLang="en-US" dirty="0">
                <a:sym typeface="+mn-ea"/>
              </a:rPr>
              <a:t>个神经元，使用</a:t>
            </a:r>
            <a:r>
              <a:rPr lang="en-US" altLang="zh-CN" dirty="0">
                <a:sym typeface="+mn-ea"/>
              </a:rPr>
              <a:t> ReLU </a:t>
            </a:r>
            <a:r>
              <a:rPr lang="zh-CN" altLang="en-US" dirty="0">
                <a:sym typeface="+mn-ea"/>
              </a:rPr>
              <a:t>激活函数。输出层：</a:t>
            </a:r>
            <a:r>
              <a:rPr lang="en-US" altLang="zh-CN" dirty="0">
                <a:sym typeface="+mn-ea"/>
              </a:rPr>
              <a:t>10 </a:t>
            </a:r>
            <a:r>
              <a:rPr lang="zh-CN" altLang="en-US" dirty="0">
                <a:sym typeface="+mn-ea"/>
              </a:rPr>
              <a:t>个神经元（对应</a:t>
            </a:r>
            <a:r>
              <a:rPr lang="en-US" altLang="zh-CN" dirty="0">
                <a:sym typeface="+mn-ea"/>
              </a:rPr>
              <a:t> 0-9 </a:t>
            </a:r>
            <a:r>
              <a:rPr lang="zh-CN" altLang="en-US" dirty="0">
                <a:sym typeface="+mn-ea"/>
              </a:rPr>
              <a:t>这十个数字），使用</a:t>
            </a:r>
            <a:r>
              <a:rPr lang="en-US" altLang="zh-CN" dirty="0">
                <a:sym typeface="+mn-ea"/>
              </a:rPr>
              <a:t> Softmax </a:t>
            </a:r>
            <a:r>
              <a:rPr lang="zh-CN" altLang="en-US" dirty="0">
                <a:sym typeface="+mn-ea"/>
              </a:rPr>
              <a:t>激活函数。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人工神经网络</a:t>
            </a:r>
            <a:r>
              <a:rPr lang="zh-CN" altLang="en-US" dirty="0"/>
              <a:t>算法流程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4845" y="1972310"/>
            <a:ext cx="10861675" cy="3889375"/>
          </a:xfrm>
        </p:spPr>
        <p:txBody>
          <a:bodyPr>
            <a:normAutofit/>
          </a:bodyPr>
          <a:lstStyle/>
          <a:p>
            <a:r>
              <a:rPr lang="zh-CN" altLang="en-US" b="1" dirty="0"/>
              <a:t>输入样本</a:t>
            </a:r>
            <a:endParaRPr lang="zh-CN" altLang="en-US" b="1" dirty="0"/>
          </a:p>
          <a:p>
            <a:r>
              <a:rPr lang="zh-CN" altLang="en-US" b="1" dirty="0"/>
              <a:t>前向传播，神经网络（</a:t>
            </a:r>
            <a:r>
              <a:rPr lang="en-US" altLang="zh-CN" dirty="0">
                <a:sym typeface="+mn-ea"/>
              </a:rPr>
              <a:t>MLP</a:t>
            </a:r>
            <a:r>
              <a:rPr lang="zh-CN" altLang="en-US" b="1" dirty="0"/>
              <a:t>）计算预测结果</a:t>
            </a:r>
            <a:endParaRPr lang="zh-CN" altLang="en-US" b="1" dirty="0"/>
          </a:p>
          <a:p>
            <a:r>
              <a:rPr lang="zh-CN" altLang="en-US" b="1" dirty="0"/>
              <a:t>计算预测结果和真实标签之间的误差</a:t>
            </a:r>
            <a:endParaRPr lang="zh-CN" altLang="en-US" b="1" dirty="0"/>
          </a:p>
          <a:p>
            <a:r>
              <a:rPr lang="zh-CN" altLang="en-US" b="1" dirty="0"/>
              <a:t>反向传播，计算每个参数对误差的影响</a:t>
            </a:r>
            <a:endParaRPr lang="zh-CN" altLang="en-US" b="1" dirty="0"/>
          </a:p>
          <a:p>
            <a:r>
              <a:rPr lang="zh-CN" altLang="en-US" b="1" dirty="0"/>
              <a:t>更新神经网络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MLP</a:t>
            </a:r>
            <a:r>
              <a:rPr lang="zh-CN" altLang="en-US" b="1" dirty="0">
                <a:sym typeface="+mn-ea"/>
              </a:rPr>
              <a:t>）</a:t>
            </a:r>
            <a:r>
              <a:rPr lang="zh-CN" altLang="en-US" b="1" dirty="0"/>
              <a:t>权重和偏置</a:t>
            </a:r>
            <a:endParaRPr lang="zh-CN" altLang="en-US" b="1" dirty="0"/>
          </a:p>
          <a:p>
            <a:r>
              <a:rPr lang="zh-CN" altLang="en-US" b="1" dirty="0"/>
              <a:t>重复训练，直到模型效果较好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人工神经网络</a:t>
            </a:r>
            <a:r>
              <a:rPr lang="zh-CN" altLang="en-US" dirty="0"/>
              <a:t>算法流程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4845" y="1510030"/>
            <a:ext cx="10861675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mnist = fetch_openml('mnist_784', version=1, as_frame=False, parser='auto')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nn = SimpleNeuralNetwork(input_size=784, hidden_size=64, output_size=10, learning_rate=0.5)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for epoch in range(epochs):        ......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test_preds = nn.predict(X_test)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test_acc = np.mean(test_preds == y_test)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训练循环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4845" y="1510030"/>
            <a:ext cx="1086167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    for epoch in range(epochs):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# 1. </a:t>
            </a:r>
            <a:r>
              <a:rPr lang="zh-CN" altLang="en-US" b="1" dirty="0"/>
              <a:t>前向传播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/>
              <a:t>        predictions = nn.forward(X_train)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# 2. </a:t>
            </a:r>
            <a:r>
              <a:rPr lang="zh-CN" altLang="en-US" b="1" dirty="0"/>
              <a:t>计算损失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/>
              <a:t>        loss = nn.compute_loss(predictions, y_train_onehot)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# 3. </a:t>
            </a:r>
            <a:r>
              <a:rPr lang="zh-CN" altLang="en-US" b="1" dirty="0"/>
              <a:t>反向传播</a:t>
            </a:r>
            <a:endParaRPr lang="zh-CN" altLang="en-US" b="1" dirty="0"/>
          </a:p>
          <a:p>
            <a:pPr marL="0" indent="0">
              <a:buNone/>
            </a:pPr>
            <a:r>
              <a:rPr lang="en-US" altLang="zh-CN" b="1" dirty="0"/>
              <a:t>        nn.backward(X_train, y_train_onehot)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5:</a:t>
            </a:r>
            <a:r>
              <a:rPr lang="zh-CN" altLang="en-US"/>
              <a:t>实验报告要求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129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altLang="zh-CN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报告命名：姓名</a:t>
            </a:r>
            <a:r>
              <a:rPr lang="en-US" altLang="zh-CN" dirty="0">
                <a:sym typeface="+mn-ea"/>
              </a:rPr>
              <a:t>_</a:t>
            </a:r>
            <a:r>
              <a:rPr lang="zh-CN" altLang="en-US" dirty="0">
                <a:sym typeface="+mn-ea"/>
              </a:rPr>
              <a:t>学号</a:t>
            </a:r>
            <a:r>
              <a:rPr lang="en-US" altLang="zh-CN" dirty="0">
                <a:sym typeface="+mn-ea"/>
              </a:rPr>
              <a:t>.docx</a:t>
            </a:r>
            <a:r>
              <a:rPr lang="zh-CN" altLang="en-US" dirty="0">
                <a:sym typeface="+mn-ea"/>
              </a:rPr>
              <a:t>；</a:t>
            </a:r>
            <a:endParaRPr lang="en-US" altLang="zh-CN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报告随堂提交电子版，中英文都可以；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报告提纲：任务描述，数据加载</a:t>
            </a:r>
            <a:r>
              <a:rPr lang="en-US" altLang="zh-CN" dirty="0"/>
              <a:t>&amp;</a:t>
            </a:r>
            <a:r>
              <a:rPr lang="zh-CN" altLang="en-US" dirty="0"/>
              <a:t>预处理，人工神经网络训练并预测，计算识别准确率并分析结果。还可以探索不同结构的</a:t>
            </a:r>
            <a:r>
              <a:rPr lang="en-US" altLang="zh-CN" dirty="0"/>
              <a:t>MLP</a:t>
            </a:r>
            <a:r>
              <a:rPr lang="zh-CN" altLang="en-US" dirty="0"/>
              <a:t>对实验结果的影响（</a:t>
            </a:r>
            <a:r>
              <a:rPr lang="zh-CN" altLang="en-US" dirty="0"/>
              <a:t>性能差异）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WPS 演示</Application>
  <PresentationFormat>宽屏</PresentationFormat>
  <Paragraphs>53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Theme</vt:lpstr>
      <vt:lpstr>实验5:人工神经网络 </vt:lpstr>
      <vt:lpstr>实验5:人工神经网络 </vt:lpstr>
      <vt:lpstr>人工神经网络算法流程</vt:lpstr>
      <vt:lpstr>人工神经网络算法流程</vt:lpstr>
      <vt:lpstr>手写数字数据加载</vt:lpstr>
      <vt:lpstr>实验5:实验报告要求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人工智能技术与应用-第一次课 反馈</dc:title>
  <dc:creator>qinzhou</dc:creator>
  <cp:lastModifiedBy>lI</cp:lastModifiedBy>
  <cp:revision>24</cp:revision>
  <dcterms:created xsi:type="dcterms:W3CDTF">2025-04-28T07:55:00Z</dcterms:created>
  <dcterms:modified xsi:type="dcterms:W3CDTF">2026-05-22T08:59:51Z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2052-12.1.0.22175</vt:lpwstr>
  </property>
  <property fmtid="{D5CDD505-2E9C-101B-9397-08002B2CF9AE}" pid="3" name="ICV">
    <vt:lpwstr>CE3E9343FBB44C74A3196EE36E48969B_13</vt:lpwstr>
  </property>
</Properties>
</file>